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GYM MEMBERSHIP</a:t>
            </a:r>
            <a:br/>
            <a:r>
              <a:t>MANAGEMENT DATABASE</a:t>
            </a:r>
          </a:p>
          <a:p>
            <a:pPr>
              <a:defRPr sz="2000">
                <a:solidFill>
                  <a:srgbClr val="D2E1F5"/>
                </a:solidFill>
              </a:defRPr>
            </a:pPr>
            <a:r>
              <a:t>DBMS TAE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Siddharam Achaler  |  Roll No. P57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T.Y. B.Tech CSE (Data Science)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G H Raisoni College of Engineering and Management, Pune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Siddharam Achaler | Roll No. P57     •     T.Y. B.Tech CSE (Data Science)     •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1. Business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Why a relational database is needed for a local gym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• Traditional records use registers, WhatsApp or simple spreadsheets.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• It is difficult to track plan expiry, attendance and pending/received fees.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• The proposed GMMD stores members, trainers, plans, attendance and payments in one system.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• SQL queries can quickly generate expiry and revenue reports.</a:t>
            </a:r>
          </a:p>
          <a:p>
            <a:pPr>
              <a:spcAft>
                <a:spcPts val="800"/>
              </a:spcAft>
              <a:defRPr sz="1600">
                <a:solidFill>
                  <a:srgbClr val="232A32"/>
                </a:solidFill>
              </a:defRPr>
            </a:pPr>
            <a:r>
              <a:t>• Main transactions: register member, assign trainer, mark attendance and record 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17320"/>
            <a:ext cx="173736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MEMBERS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1417320"/>
            <a:ext cx="173736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TRAINERS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971800"/>
            <a:ext cx="173736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PLANS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2971800"/>
            <a:ext cx="173736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ATTENDANCE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220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4526280"/>
            <a:ext cx="361188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PAYMENT RECORDS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Siddharam Achaler | Roll No. P57     •     T.Y. B.Tech CSE (Data Science)     •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2. Raw Dataset – Actual Excel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Source: supplied Gym Membership Management workbook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9202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MEMBERS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60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active member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234440"/>
            <a:ext cx="19202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ATTENDANCE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220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234440"/>
            <a:ext cx="19202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PAYMENTS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60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234440"/>
            <a:ext cx="19202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TRAINERS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10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234440"/>
            <a:ext cx="1920240" cy="123444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PLANS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4</a:t>
            </a:r>
          </a:p>
          <a:p>
            <a:pPr algn="ctr">
              <a:defRPr sz="1000">
                <a:solidFill>
                  <a:srgbClr val="69737D"/>
                </a:solidFill>
              </a:defRPr>
            </a:pPr>
            <a:r>
              <a:t>plans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2120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F4E"/>
                </a:solidFill>
              </a:defRPr>
            </a:pPr>
            <a:r>
              <a:t>Membership plan distribution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Monthly: 23 members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Quarterly: 21 members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Half-Yearly: 9 members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Annual: 7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743200"/>
            <a:ext cx="4937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F4E"/>
                </a:solidFill>
              </a:defRPr>
            </a:pPr>
            <a:r>
              <a:t>Payment summary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• Total amount recorded: ₹312,900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• Cash: 20 payments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• UPI: 19 payments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• Card: 21 payments</a:t>
            </a:r>
          </a:p>
          <a:p>
            <a:pPr>
              <a:defRPr sz="1500">
                <a:solidFill>
                  <a:srgbClr val="232A32"/>
                </a:solidFill>
              </a:defRPr>
            </a:pPr>
            <a:r>
              <a:t>• Trainer not assigned: 5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Siddharam Achaler | Roll No. P57     •     T.Y. B.Tech CSE (Data Science)     •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3. EER Diagram – Main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Five entities form the conceptual database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011680" cy="105156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Trainer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828800"/>
            <a:ext cx="2194560" cy="105156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MembershipPlan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28800"/>
            <a:ext cx="2011680" cy="105156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143000"/>
            <a:ext cx="2286000" cy="105156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Attendance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743200"/>
            <a:ext cx="2286000" cy="105156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Payment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359152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57800" y="2359152"/>
            <a:ext cx="5486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818120" y="1664208"/>
            <a:ext cx="594360" cy="694944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818120" y="2359152"/>
            <a:ext cx="594360" cy="91440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33472" y="199339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7855"/>
                </a:solidFill>
              </a:defRPr>
            </a:pPr>
            <a:r>
              <a:t>1 :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1993392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7855"/>
                </a:solidFill>
              </a:defRPr>
            </a:pPr>
            <a:r>
              <a:t>1 :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29844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7855"/>
                </a:solidFill>
              </a:defRPr>
            </a:pPr>
            <a:r>
              <a:t>1 :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2900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7855"/>
                </a:solidFill>
              </a:defRPr>
            </a:pPr>
            <a:r>
              <a:t>1 :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891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Member references one MembershipPlan and may reference one Trainer.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Attendance and Payment depend on an existing Member.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Siddharam Achaler | Roll No. P57     •     T.Y. B.Tech CSE (Data Science)     •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4. Normalization – 1NF → 2NF → 3NF / BCNF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How repeated data is separated into reliable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429000" cy="347472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82F4E"/>
                </a:solidFill>
              </a:defRPr>
            </a:pPr>
            <a:r>
              <a:t>1NF</a:t>
            </a:r>
          </a:p>
          <a:p>
            <a:br/>
            <a:pPr>
              <a:defRPr sz="1400" b="1">
                <a:solidFill>
                  <a:srgbClr val="377855"/>
                </a:solidFill>
              </a:defRPr>
            </a:pPr>
            <a:r>
              <a:t>Problem</a:t>
            </a:r>
          </a:p>
          <a:p>
            <a:pPr algn="ctr">
              <a:defRPr sz="1300">
                <a:solidFill>
                  <a:srgbClr val="232A32"/>
                </a:solidFill>
              </a:defRPr>
            </a:pPr>
            <a:r>
              <a:t>Remove multivalued PaymentRecords</a:t>
            </a:r>
          </a:p>
          <a:p>
            <a:br/>
            <a:pPr>
              <a:defRPr sz="1400" b="1">
                <a:solidFill>
                  <a:srgbClr val="377855"/>
                </a:solidFill>
              </a:defRPr>
            </a:pPr>
            <a:r>
              <a:t>Fix</a:t>
            </a:r>
          </a:p>
          <a:p>
            <a:pPr algn="ctr">
              <a:defRPr sz="1300">
                <a:solidFill>
                  <a:srgbClr val="232A32"/>
                </a:solidFill>
              </a:defRPr>
            </a:pPr>
            <a:r>
              <a:t>One payment per 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429000" cy="347472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82F4E"/>
                </a:solidFill>
              </a:defRPr>
            </a:pPr>
            <a:r>
              <a:t>2NF</a:t>
            </a:r>
          </a:p>
          <a:p>
            <a:br/>
            <a:pPr>
              <a:defRPr sz="1400" b="1">
                <a:solidFill>
                  <a:srgbClr val="377855"/>
                </a:solidFill>
              </a:defRPr>
            </a:pPr>
            <a:r>
              <a:t>Problem</a:t>
            </a:r>
          </a:p>
          <a:p>
            <a:pPr algn="ctr">
              <a:defRPr sz="1300">
                <a:solidFill>
                  <a:srgbClr val="232A32"/>
                </a:solidFill>
              </a:defRPr>
            </a:pPr>
            <a:r>
              <a:t>Remove partial dependency</a:t>
            </a:r>
          </a:p>
          <a:p>
            <a:br/>
            <a:pPr>
              <a:defRPr sz="1400" b="1">
                <a:solidFill>
                  <a:srgbClr val="377855"/>
                </a:solidFill>
              </a:defRPr>
            </a:pPr>
            <a:r>
              <a:t>Fix</a:t>
            </a:r>
          </a:p>
          <a:p>
            <a:pPr algn="ctr">
              <a:defRPr sz="1300">
                <a:solidFill>
                  <a:srgbClr val="232A32"/>
                </a:solidFill>
              </a:defRPr>
            </a:pPr>
            <a:r>
              <a:t>Plan information separated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463040"/>
            <a:ext cx="3429000" cy="347472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82F4E"/>
                </a:solidFill>
              </a:defRPr>
            </a:pPr>
            <a:r>
              <a:t>3NF / BCNF</a:t>
            </a:r>
          </a:p>
          <a:p>
            <a:br/>
            <a:pPr>
              <a:defRPr sz="1400" b="1">
                <a:solidFill>
                  <a:srgbClr val="377855"/>
                </a:solidFill>
              </a:defRPr>
            </a:pPr>
            <a:r>
              <a:t>Problem</a:t>
            </a:r>
          </a:p>
          <a:p>
            <a:pPr algn="ctr">
              <a:defRPr sz="1300">
                <a:solidFill>
                  <a:srgbClr val="232A32"/>
                </a:solidFill>
              </a:defRPr>
            </a:pPr>
            <a:r>
              <a:t>Remove transitive dependency</a:t>
            </a:r>
          </a:p>
          <a:p>
            <a:br/>
            <a:pPr>
              <a:defRPr sz="1400" b="1">
                <a:solidFill>
                  <a:srgbClr val="377855"/>
                </a:solidFill>
              </a:defRPr>
            </a:pPr>
            <a:r>
              <a:t>Fix</a:t>
            </a:r>
          </a:p>
          <a:p>
            <a:pPr algn="ctr">
              <a:defRPr sz="1300">
                <a:solidFill>
                  <a:srgbClr val="232A32"/>
                </a:solidFill>
              </a:defRPr>
            </a:pPr>
            <a:r>
              <a:t>Plan fee &amp; trainer details separated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A32"/>
                </a:solidFill>
              </a:defRPr>
            </a:pPr>
            <a:r>
              <a:t>• Final design avoids repeating plan fees and trainer details and reduces update anomalies.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Siddharam Achaler | Roll No. P57     •     T.Y. B.Tech CSE (Data Science)     •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5. Final Relational Schema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Normalized tables used for implementation in MySQL 8.0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0352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Trainer</a:t>
            </a:r>
          </a:p>
          <a:p>
            <a:pPr>
              <a:defRPr sz="1100">
                <a:solidFill>
                  <a:srgbClr val="232A32"/>
                </a:solidFill>
              </a:defRPr>
            </a:pPr>
            <a:r>
              <a:t>TrainerID PK • TrainerName • Specialization • ContactNo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530352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MembershipPlan</a:t>
            </a:r>
          </a:p>
          <a:p>
            <a:pPr>
              <a:defRPr sz="1100">
                <a:solidFill>
                  <a:srgbClr val="232A32"/>
                </a:solidFill>
              </a:defRPr>
            </a:pPr>
            <a:r>
              <a:t>PlanID PK • PlanName UNIQUE • DurationMonths • Fee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51760"/>
            <a:ext cx="530352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Member</a:t>
            </a:r>
          </a:p>
          <a:p>
            <a:pPr>
              <a:defRPr sz="1100">
                <a:solidFill>
                  <a:srgbClr val="232A32"/>
                </a:solidFill>
              </a:defRPr>
            </a:pPr>
            <a:r>
              <a:t>MemberID PK • FullName • ContactNo • Age • JoinDate • PlanID FK • TrainerID FK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530352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Attendance</a:t>
            </a:r>
          </a:p>
          <a:p>
            <a:pPr>
              <a:defRPr sz="1100">
                <a:solidFill>
                  <a:srgbClr val="232A32"/>
                </a:solidFill>
              </a:defRPr>
            </a:pPr>
            <a:r>
              <a:t>MemberID FK • AttendanceDate • CheckInTime • PK(MemberID, AttendanceDate)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4069080"/>
            <a:ext cx="5303520" cy="1143000"/>
          </a:xfrm>
          <a:prstGeom prst="roundRect">
            <a:avLst/>
          </a:prstGeom>
          <a:solidFill>
            <a:srgbClr val="EBF2FA"/>
          </a:solidFill>
          <a:ln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82F4E"/>
                </a:solidFill>
              </a:defRPr>
            </a:pPr>
            <a:r>
              <a:t>Payment</a:t>
            </a:r>
          </a:p>
          <a:p>
            <a:pPr>
              <a:defRPr sz="1100">
                <a:solidFill>
                  <a:srgbClr val="232A32"/>
                </a:solidFill>
              </a:defRPr>
            </a:pPr>
            <a:r>
              <a:t>PaymentID PK • MemberID FK • PaymentDate • AmountPaid • PaymentMode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A32"/>
                </a:solidFill>
              </a:defRPr>
            </a:pPr>
            <a:r>
              <a:t>• Key constraints: Age ≥ 14, Fee/AmountPaid &gt; 0, DurationMonths &gt; 0, PaymentMode = Cash/UPI/Card.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Siddharam Achaler | Roll No. P57     •     T.Y. B.Tech CSE (Data Science)     •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4E"/>
                </a:solidFill>
              </a:defRPr>
            </a:pPr>
            <a:r>
              <a:t>6. Key Results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What the supplied data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The dataset contains 60 members with 220 attendance records and 60 payment records.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Total recorded payment amount is ₹312,900.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Monthly is the most common plan (23 members), followed by Quarterly (21).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Payment modes are distributed across Cash (20), UPI (19) and Card (21).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5 members currently have no trainer assigned.</a:t>
            </a:r>
          </a:p>
          <a:p>
            <a:pPr>
              <a:spcAft>
                <a:spcPts val="800"/>
              </a:spcAft>
              <a:defRPr sz="1500">
                <a:solidFill>
                  <a:srgbClr val="232A32"/>
                </a:solidFill>
              </a:defRPr>
            </a:pPr>
            <a:r>
              <a:t>• The normalized relational design makes attendance, payment and membership information easier to maintain and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417320"/>
            <a:ext cx="338328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TOTAL PAYMENT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₹312,900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3017520"/>
            <a:ext cx="338328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AVERAGE MEMBER AGE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31.4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4617720"/>
            <a:ext cx="338328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9737D"/>
                </a:solidFill>
              </a:defRPr>
            </a:pPr>
            <a:r>
              <a:t>DATABASE DESIGN</a:t>
            </a:r>
          </a:p>
          <a:p>
            <a:pPr algn="ctr">
              <a:defRPr sz="2400" b="1">
                <a:solidFill>
                  <a:srgbClr val="182F4E"/>
                </a:solidFill>
              </a:defRPr>
            </a:pPr>
            <a:r>
              <a:t>3NF / BCNF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Siddharam Achaler | Roll No. P57     •     T.Y. B.Tech CSE (Data Science)     •  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